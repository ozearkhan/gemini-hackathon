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6DB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972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6DBE45"/>
                </a:solidFill>
              </a:rPr>
              <a:t>GEMINI ENTERPRISE GLOBAL HACKATHON  ·  STREAM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8992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PDLC Copilot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7899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C5CBD8"/>
                </a:solidFill>
              </a:rPr>
              <a:t>A supervised, doc-grounded agent graph that owns the long tail of data-engineering requests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1078992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Team  agenti-1711  —  Agentic PDLC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11880"/>
            <a:ext cx="10789920" cy="1463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0" i="0">
                <a:solidFill>
                  <a:srgbClr val="C5CBD8"/>
                </a:solidFill>
              </a:rPr>
              <a:t>[NAME — Lead Architect]      [NAME — Agent / Tool Engineer]</a:t>
            </a:r>
          </a:p>
          <a:p>
            <a:pPr algn="l"/>
            <a:r>
              <a:rPr sz="1400" b="0" i="0">
                <a:solidFill>
                  <a:srgbClr val="C5CBD8"/>
                </a:solidFill>
              </a:rPr>
              <a:t>[NAME — Platform &amp; Deploy]      [NAME — Eval &amp; QA]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03504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8A90A0"/>
                </a:solidFill>
              </a:rPr>
              <a:t>EPAM Proprietary &amp;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4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GEMINI ENTERPRISE GLOBAL HACKATHON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41148"/>
          </a:xfrm>
          <a:prstGeom prst="rect">
            <a:avLst/>
          </a:prstGeom>
          <a:solidFill>
            <a:srgbClr val="2A6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510528"/>
            <a:ext cx="548640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5F6368"/>
                </a:solidFill>
              </a:rPr>
              <a:t>EPAM Proprietary &amp;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10528"/>
            <a:ext cx="64008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900" b="0" i="0">
                <a:solidFill>
                  <a:srgbClr val="5F6368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124712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400" b="1" i="0">
                <a:solidFill>
                  <a:srgbClr val="141E3C"/>
                </a:solidFill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106424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202124"/>
                </a:solidFill>
              </a:rPr>
              <a:t>Every “quick” data ask still needs the same six process steps a big platform build needs — but under deadline pressure, teams skip them. That is exactly where technical debt, compliance misses, and rework come from.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02124"/>
                </a:solidFill>
              </a:rPr>
              <a:t>—  It is a governance gap, not a tooling gap. The PDLC checklist already exists (our internal playbook) — what is missing is consistent execution at the volume of requests that actually arrive.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02124"/>
                </a:solidFill>
              </a:rPr>
              <a:t>—  The long tail is where the calendar time hides. A 10-ticker tracker, a competitor-watch dashboard, a one-off ingestion — individually small, collectively the bulk of a platform team's queue.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02124"/>
                </a:solidFill>
              </a:rPr>
              <a:t>—  Naive AI makes it worse. A generic copilot will confidently hallucinate a stock API's rate limit or invent Terraform syntax — turning a time problem into a trust problem.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02124"/>
                </a:solidFill>
              </a:rPr>
              <a:t>—  The steps that get skipped are the valuable ones: requirement sign-off, ADRs, review gates, JIRA traceability — not the code.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5F6368"/>
                </a:solidFill>
              </a:rPr>
              <a:t>[Illustrative] plug in real org numbers if available: requests/quarter of this size, % with no written requirement doc, % with no ADR.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4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GEMINI ENTERPRISE GLOBAL HACKATHON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41148"/>
          </a:xfrm>
          <a:prstGeom prst="rect">
            <a:avLst/>
          </a:prstGeom>
          <a:solidFill>
            <a:srgbClr val="2A6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510528"/>
            <a:ext cx="548640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5F6368"/>
                </a:solidFill>
              </a:rPr>
              <a:t>EPAM Proprietary &amp;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10528"/>
            <a:ext cx="64008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900" b="0" i="0">
                <a:solidFill>
                  <a:srgbClr val="5F6368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124712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400" b="1" i="0">
                <a:solidFill>
                  <a:srgbClr val="141E3C"/>
                </a:solidFill>
              </a:rPr>
              <a:t>The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202124"/>
                </a:solidFill>
              </a:rPr>
              <a:t>An agent graph that runs the full PDLC — and cannot skip a governance step even when a human would be tempted 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1417320" cy="640080"/>
          </a:xfrm>
          <a:prstGeom prst="roundRect">
            <a:avLst/>
          </a:prstGeom>
          <a:solidFill>
            <a:srgbClr val="E8EAED"/>
          </a:solidFill>
          <a:ln w="15875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1" i="0">
                <a:solidFill>
                  <a:srgbClr val="202124"/>
                </a:solidFill>
              </a:rPr>
              <a:t>Phase 0</a:t>
            </a:r>
          </a:p>
          <a:p>
            <a:pPr algn="ctr"/>
            <a:r>
              <a:rPr sz="1000" b="1" i="0">
                <a:solidFill>
                  <a:srgbClr val="202124"/>
                </a:solidFill>
              </a:rPr>
              <a:t>Intake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65960" y="2377440"/>
            <a:ext cx="155448" cy="0"/>
          </a:xfrm>
          <a:prstGeom prst="line">
            <a:avLst/>
          </a:prstGeom>
          <a:ln w="19050">
            <a:solidFill>
              <a:srgbClr val="2A6F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121408" y="2057400"/>
            <a:ext cx="1417320" cy="640080"/>
          </a:xfrm>
          <a:prstGeom prst="roundRect">
            <a:avLst/>
          </a:prstGeom>
          <a:solidFill>
            <a:srgbClr val="E8EAED"/>
          </a:solidFill>
          <a:ln w="15875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1" i="0">
                <a:solidFill>
                  <a:srgbClr val="202124"/>
                </a:solidFill>
              </a:rPr>
              <a:t>Phase 1</a:t>
            </a:r>
          </a:p>
          <a:p>
            <a:pPr algn="ctr"/>
            <a:r>
              <a:rPr sz="1000" b="1" i="0">
                <a:solidFill>
                  <a:srgbClr val="202124"/>
                </a:solidFill>
              </a:rPr>
              <a:t>Requirements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538728" y="2377440"/>
            <a:ext cx="155448" cy="0"/>
          </a:xfrm>
          <a:prstGeom prst="line">
            <a:avLst/>
          </a:prstGeom>
          <a:ln w="19050">
            <a:solidFill>
              <a:srgbClr val="2A6F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694176" y="2057400"/>
            <a:ext cx="1417320" cy="640080"/>
          </a:xfrm>
          <a:prstGeom prst="roundRect">
            <a:avLst/>
          </a:prstGeom>
          <a:solidFill>
            <a:srgbClr val="FCE8B2"/>
          </a:solidFill>
          <a:ln w="15875">
            <a:solidFill>
              <a:srgbClr val="B06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1" i="0">
                <a:solidFill>
                  <a:srgbClr val="3D2C00"/>
                </a:solidFill>
              </a:rPr>
              <a:t>Gate-1</a:t>
            </a:r>
          </a:p>
          <a:p>
            <a:pPr algn="ctr"/>
            <a:r>
              <a:rPr sz="1000" b="1" i="0">
                <a:solidFill>
                  <a:srgbClr val="3D2C00"/>
                </a:solidFill>
              </a:rPr>
              <a:t>sign-off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111496" y="2377440"/>
            <a:ext cx="155448" cy="0"/>
          </a:xfrm>
          <a:prstGeom prst="line">
            <a:avLst/>
          </a:prstGeom>
          <a:ln w="19050">
            <a:solidFill>
              <a:srgbClr val="2A6F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266944" y="2057400"/>
            <a:ext cx="1417320" cy="640080"/>
          </a:xfrm>
          <a:prstGeom prst="roundRect">
            <a:avLst/>
          </a:prstGeom>
          <a:solidFill>
            <a:srgbClr val="E8EAED"/>
          </a:solidFill>
          <a:ln w="15875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1" i="0">
                <a:solidFill>
                  <a:srgbClr val="202124"/>
                </a:solidFill>
              </a:rPr>
              <a:t>Phase 2</a:t>
            </a:r>
          </a:p>
          <a:p>
            <a:pPr algn="ctr"/>
            <a:r>
              <a:rPr sz="1000" b="1" i="0">
                <a:solidFill>
                  <a:srgbClr val="202124"/>
                </a:solidFill>
              </a:rPr>
              <a:t>Architecture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684264" y="2377440"/>
            <a:ext cx="155448" cy="0"/>
          </a:xfrm>
          <a:prstGeom prst="line">
            <a:avLst/>
          </a:prstGeom>
          <a:ln w="19050">
            <a:solidFill>
              <a:srgbClr val="2A6F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839712" y="2057400"/>
            <a:ext cx="1417320" cy="640080"/>
          </a:xfrm>
          <a:prstGeom prst="roundRect">
            <a:avLst/>
          </a:prstGeom>
          <a:solidFill>
            <a:srgbClr val="FCE8B2"/>
          </a:solidFill>
          <a:ln w="15875">
            <a:solidFill>
              <a:srgbClr val="B06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1" i="0">
                <a:solidFill>
                  <a:srgbClr val="3D2C00"/>
                </a:solidFill>
              </a:rPr>
              <a:t>Gate-2</a:t>
            </a:r>
          </a:p>
          <a:p>
            <a:pPr algn="ctr"/>
            <a:r>
              <a:rPr sz="1000" b="1" i="0">
                <a:solidFill>
                  <a:srgbClr val="3D2C00"/>
                </a:solidFill>
              </a:rPr>
              <a:t>review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57031" y="2377440"/>
            <a:ext cx="155449" cy="0"/>
          </a:xfrm>
          <a:prstGeom prst="line">
            <a:avLst/>
          </a:prstGeom>
          <a:ln w="19050">
            <a:solidFill>
              <a:srgbClr val="2A6F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412480" y="2057400"/>
            <a:ext cx="1417320" cy="640080"/>
          </a:xfrm>
          <a:prstGeom prst="roundRect">
            <a:avLst/>
          </a:prstGeom>
          <a:solidFill>
            <a:srgbClr val="E8EAED"/>
          </a:solidFill>
          <a:ln w="15875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1" i="0">
                <a:solidFill>
                  <a:srgbClr val="202124"/>
                </a:solidFill>
              </a:rPr>
              <a:t>Phase 5</a:t>
            </a:r>
          </a:p>
          <a:p>
            <a:pPr algn="ctr"/>
            <a:r>
              <a:rPr sz="1000" b="1" i="0">
                <a:solidFill>
                  <a:srgbClr val="202124"/>
                </a:solidFill>
              </a:rPr>
              <a:t>Infra-as-Code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829800" y="2377440"/>
            <a:ext cx="155448" cy="0"/>
          </a:xfrm>
          <a:prstGeom prst="line">
            <a:avLst/>
          </a:prstGeom>
          <a:ln w="19050">
            <a:solidFill>
              <a:srgbClr val="2A6F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985248" y="2057400"/>
            <a:ext cx="1417320" cy="640080"/>
          </a:xfrm>
          <a:prstGeom prst="roundRect">
            <a:avLst/>
          </a:prstGeom>
          <a:solidFill>
            <a:srgbClr val="E8EAED"/>
          </a:solidFill>
          <a:ln w="15875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1" i="0">
                <a:solidFill>
                  <a:srgbClr val="202124"/>
                </a:solidFill>
              </a:rPr>
              <a:t>Phase 4</a:t>
            </a:r>
          </a:p>
          <a:p>
            <a:pPr algn="ctr"/>
            <a:r>
              <a:rPr sz="1000" b="1" i="0">
                <a:solidFill>
                  <a:srgbClr val="202124"/>
                </a:solidFill>
              </a:rPr>
              <a:t>JIRA tree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063240"/>
            <a:ext cx="5486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02124"/>
                </a:solidFill>
              </a:rPr>
              <a:t>—  How it helps:</a:t>
            </a:r>
          </a:p>
          <a:p>
            <a:pPr lvl="1">
              <a:spcAft>
                <a:spcPts val="600"/>
              </a:spcAft>
            </a:pPr>
            <a:r>
              <a:rPr sz="1200">
                <a:solidFill>
                  <a:srgbClr val="202124"/>
                </a:solidFill>
              </a:rPr>
              <a:t>•  Standardizes governance — nothing skips a gate.</a:t>
            </a:r>
          </a:p>
          <a:p>
            <a:pPr lvl="1">
              <a:spcAft>
                <a:spcPts val="600"/>
              </a:spcAft>
            </a:pPr>
            <a:r>
              <a:rPr sz="1200">
                <a:solidFill>
                  <a:srgbClr val="202124"/>
                </a:solidFill>
              </a:rPr>
              <a:t>•  Compresses elapsed time — parallel research + drafting vs. sequential meetings.</a:t>
            </a:r>
          </a:p>
          <a:p>
            <a:pPr lvl="1">
              <a:spcAft>
                <a:spcPts val="600"/>
              </a:spcAft>
            </a:pPr>
            <a:r>
              <a:rPr sz="1200">
                <a:solidFill>
                  <a:srgbClr val="202124"/>
                </a:solidFill>
              </a:rPr>
              <a:t>•  Artifacts (req doc, ADRs, JIRA tree) fall out as a byproduct of the work, not extra overhead.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063240"/>
            <a:ext cx="5394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02124"/>
                </a:solidFill>
              </a:rPr>
              <a:t>—  Who it helps:</a:t>
            </a:r>
          </a:p>
          <a:p>
            <a:pPr lvl="1">
              <a:spcAft>
                <a:spcPts val="600"/>
              </a:spcAft>
            </a:pPr>
            <a:r>
              <a:rPr sz="1200">
                <a:solidFill>
                  <a:srgbClr val="202124"/>
                </a:solidFill>
              </a:rPr>
              <a:t>•  Platform teams drowning in “quick ask” volume.</a:t>
            </a:r>
          </a:p>
          <a:p>
            <a:pPr lvl="1">
              <a:spcAft>
                <a:spcPts val="600"/>
              </a:spcAft>
            </a:pPr>
            <a:r>
              <a:rPr sz="1200">
                <a:solidFill>
                  <a:srgbClr val="202124"/>
                </a:solidFill>
              </a:rPr>
              <a:t>•  PMs/stakeholders who need a fast, defensible “can we build this &amp; what will it cost.”</a:t>
            </a:r>
          </a:p>
          <a:p>
            <a:pPr lvl="1">
              <a:spcAft>
                <a:spcPts val="600"/>
              </a:spcAft>
            </a:pPr>
            <a:r>
              <a:rPr sz="1200">
                <a:solidFill>
                  <a:srgbClr val="202124"/>
                </a:solidFill>
              </a:rPr>
              <a:t>•  Junior engineers — a consistent example of “good” every time.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2A6F6A"/>
                </a:solidFill>
              </a:rPr>
              <a:t>Reference case worked end-to-end: “Daily stock tracker for competitor watch.”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4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GEMINI ENTERPRISE GLOBAL HACKATHON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41148"/>
          </a:xfrm>
          <a:prstGeom prst="rect">
            <a:avLst/>
          </a:prstGeom>
          <a:solidFill>
            <a:srgbClr val="2A6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510528"/>
            <a:ext cx="548640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5F6368"/>
                </a:solidFill>
              </a:rPr>
              <a:t>EPAM Proprietary &amp;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10528"/>
            <a:ext cx="64008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900" b="0" i="0">
                <a:solidFill>
                  <a:srgbClr val="5F6368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124712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400" b="1" i="0">
                <a:solidFill>
                  <a:srgbClr val="141E3C"/>
                </a:solidFill>
              </a:rPr>
              <a:t>Architecture — HLD: System (what we shipped on Google ADK)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70432"/>
            <a:ext cx="256032" cy="182880"/>
          </a:xfrm>
          <a:prstGeom prst="roundRect">
            <a:avLst/>
          </a:prstGeom>
          <a:solidFill>
            <a:srgbClr val="E8EAED"/>
          </a:solidFill>
          <a:ln w="12700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143000"/>
            <a:ext cx="2377440" cy="2560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5F6368"/>
                </a:solidFill>
              </a:rPr>
              <a:t>agent phase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1170432"/>
            <a:ext cx="256032" cy="182880"/>
          </a:xfrm>
          <a:prstGeom prst="roundRect">
            <a:avLst/>
          </a:prstGeom>
          <a:solidFill>
            <a:srgbClr val="FCE8B2"/>
          </a:solidFill>
          <a:ln w="12700">
            <a:solidFill>
              <a:srgbClr val="B06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44368" y="1143000"/>
            <a:ext cx="2377440" cy="2560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5F6368"/>
                </a:solidFill>
              </a:rPr>
              <a:t>human gate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27448" y="1170432"/>
            <a:ext cx="256032" cy="182880"/>
          </a:xfrm>
          <a:prstGeom prst="roundRect">
            <a:avLst/>
          </a:prstGeom>
          <a:solidFill>
            <a:srgbClr val="A7D7D2"/>
          </a:solidFill>
          <a:ln w="12700">
            <a:solidFill>
              <a:srgbClr val="2A6F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0056" y="1143000"/>
            <a:ext cx="2377440" cy="2560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5F6368"/>
                </a:solidFill>
              </a:rPr>
              <a:t>tool / MCP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03136" y="1170432"/>
            <a:ext cx="256032" cy="182880"/>
          </a:xfrm>
          <a:prstGeom prst="roundRect">
            <a:avLst/>
          </a:prstGeom>
          <a:solidFill>
            <a:srgbClr val="F4C7C3"/>
          </a:solidFill>
          <a:ln w="12700">
            <a:solidFill>
              <a:srgbClr val="A50E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95744" y="1143000"/>
            <a:ext cx="2377440" cy="2560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5F6368"/>
                </a:solidFill>
              </a:rPr>
              <a:t>guardrail (refuses)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60" y="1508760"/>
            <a:ext cx="2286000" cy="566928"/>
          </a:xfrm>
          <a:prstGeom prst="roundRect">
            <a:avLst/>
          </a:prstGeom>
          <a:solidFill>
            <a:srgbClr val="E8EAED"/>
          </a:solidFill>
          <a:ln w="15875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1" i="0">
                <a:solidFill>
                  <a:srgbClr val="202124"/>
                </a:solidFill>
              </a:rPr>
              <a:t>pdlc_coordinator · root_agent</a:t>
            </a:r>
          </a:p>
          <a:p>
            <a:pPr algn="ctr"/>
            <a:r>
              <a:rPr sz="1000" b="1" i="0">
                <a:solidFill>
                  <a:srgbClr val="202124"/>
                </a:solidFill>
              </a:rPr>
              <a:t>Coordinator-Dispatcher (fast model)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468880"/>
            <a:ext cx="2103120" cy="685800"/>
          </a:xfrm>
          <a:prstGeom prst="roundRect">
            <a:avLst/>
          </a:prstGeom>
          <a:solidFill>
            <a:srgbClr val="E8EAED"/>
          </a:solidFill>
          <a:ln w="15875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1" i="0">
                <a:solidFill>
                  <a:srgbClr val="202124"/>
                </a:solidFill>
              </a:rPr>
              <a:t>Phase 0</a:t>
            </a:r>
          </a:p>
          <a:p>
            <a:pPr algn="ctr"/>
            <a:r>
              <a:rPr sz="950" b="1" i="0">
                <a:solidFill>
                  <a:srgbClr val="202124"/>
                </a:solidFill>
              </a:rPr>
              <a:t>intake_triage</a:t>
            </a:r>
          </a:p>
          <a:p>
            <a:pPr algn="ctr"/>
            <a:r>
              <a:rPr sz="750" b="0" i="1">
                <a:solidFill>
                  <a:srgbClr val="5F6368"/>
                </a:solidFill>
              </a:rPr>
              <a:t>triage note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1554480" y="2075688"/>
            <a:ext cx="4526280" cy="393192"/>
          </a:xfrm>
          <a:prstGeom prst="line">
            <a:avLst/>
          </a:prstGeom>
          <a:ln w="1270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788920" y="2468880"/>
            <a:ext cx="2103120" cy="685800"/>
          </a:xfrm>
          <a:prstGeom prst="roundRect">
            <a:avLst/>
          </a:prstGeom>
          <a:solidFill>
            <a:srgbClr val="E8EAED"/>
          </a:solidFill>
          <a:ln w="15875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1" i="0">
                <a:solidFill>
                  <a:srgbClr val="202124"/>
                </a:solidFill>
              </a:rPr>
              <a:t>Phase 1</a:t>
            </a:r>
          </a:p>
          <a:p>
            <a:pPr algn="ctr"/>
            <a:r>
              <a:rPr sz="950" b="1" i="0">
                <a:solidFill>
                  <a:srgbClr val="202124"/>
                </a:solidFill>
              </a:rPr>
              <a:t>requirements_analyst</a:t>
            </a:r>
          </a:p>
          <a:p>
            <a:pPr algn="ctr"/>
            <a:r>
              <a:rPr sz="750" b="0" i="1">
                <a:solidFill>
                  <a:srgbClr val="5F6368"/>
                </a:solidFill>
              </a:rPr>
              <a:t>Requirement v1.x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3840479" y="2075688"/>
            <a:ext cx="2240281" cy="393192"/>
          </a:xfrm>
          <a:prstGeom prst="line">
            <a:avLst/>
          </a:prstGeom>
          <a:ln w="1270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074920" y="2468880"/>
            <a:ext cx="2103120" cy="685800"/>
          </a:xfrm>
          <a:prstGeom prst="roundRect">
            <a:avLst/>
          </a:prstGeom>
          <a:solidFill>
            <a:srgbClr val="E8EAED"/>
          </a:solidFill>
          <a:ln w="15875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1" i="0">
                <a:solidFill>
                  <a:srgbClr val="202124"/>
                </a:solidFill>
              </a:rPr>
              <a:t>Phase 2</a:t>
            </a:r>
          </a:p>
          <a:p>
            <a:pPr algn="ctr"/>
            <a:r>
              <a:rPr sz="950" b="1" i="0">
                <a:solidFill>
                  <a:srgbClr val="202124"/>
                </a:solidFill>
              </a:rPr>
              <a:t>architecture</a:t>
            </a:r>
          </a:p>
          <a:p>
            <a:pPr algn="ctr"/>
            <a:r>
              <a:rPr sz="750" b="0" i="1">
                <a:solidFill>
                  <a:srgbClr val="5F6368"/>
                </a:solidFill>
              </a:rPr>
              <a:t>HLD+cost+ADRs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80760" y="2075688"/>
            <a:ext cx="45719" cy="393192"/>
          </a:xfrm>
          <a:prstGeom prst="line">
            <a:avLst/>
          </a:prstGeom>
          <a:ln w="1270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360920" y="2468880"/>
            <a:ext cx="2103120" cy="685800"/>
          </a:xfrm>
          <a:prstGeom prst="roundRect">
            <a:avLst/>
          </a:prstGeom>
          <a:solidFill>
            <a:srgbClr val="E8EAED"/>
          </a:solidFill>
          <a:ln w="15875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1" i="0">
                <a:solidFill>
                  <a:srgbClr val="202124"/>
                </a:solidFill>
              </a:rPr>
              <a:t>Phase 5</a:t>
            </a:r>
          </a:p>
          <a:p>
            <a:pPr algn="ctr"/>
            <a:r>
              <a:rPr sz="950" b="1" i="0">
                <a:solidFill>
                  <a:srgbClr val="202124"/>
                </a:solidFill>
              </a:rPr>
              <a:t>iac (first)</a:t>
            </a:r>
          </a:p>
          <a:p>
            <a:pPr algn="ctr"/>
            <a:r>
              <a:rPr sz="750" b="0" i="1">
                <a:solidFill>
                  <a:srgbClr val="5F6368"/>
                </a:solidFill>
              </a:rPr>
              <a:t>Terraform in repo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80760" y="2075688"/>
            <a:ext cx="2331720" cy="393192"/>
          </a:xfrm>
          <a:prstGeom prst="line">
            <a:avLst/>
          </a:prstGeom>
          <a:ln w="1270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646920" y="2468880"/>
            <a:ext cx="2103120" cy="685800"/>
          </a:xfrm>
          <a:prstGeom prst="roundRect">
            <a:avLst/>
          </a:prstGeom>
          <a:solidFill>
            <a:srgbClr val="E8EAED"/>
          </a:solidFill>
          <a:ln w="15875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1" i="0">
                <a:solidFill>
                  <a:srgbClr val="202124"/>
                </a:solidFill>
              </a:rPr>
              <a:t>Phase 4</a:t>
            </a:r>
          </a:p>
          <a:p>
            <a:pPr algn="ctr"/>
            <a:r>
              <a:rPr sz="950" b="1" i="0">
                <a:solidFill>
                  <a:srgbClr val="202124"/>
                </a:solidFill>
              </a:rPr>
              <a:t>jira_planner</a:t>
            </a:r>
          </a:p>
          <a:p>
            <a:pPr algn="ctr"/>
            <a:r>
              <a:rPr sz="750" b="0" i="1">
                <a:solidFill>
                  <a:srgbClr val="5F6368"/>
                </a:solidFill>
              </a:rPr>
              <a:t>Epic→…→Task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80760" y="2075688"/>
            <a:ext cx="4617720" cy="393192"/>
          </a:xfrm>
          <a:prstGeom prst="line">
            <a:avLst/>
          </a:prstGeom>
          <a:ln w="1270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2971800" y="3429000"/>
            <a:ext cx="2103120" cy="502920"/>
          </a:xfrm>
          <a:prstGeom prst="roundRect">
            <a:avLst/>
          </a:prstGeom>
          <a:solidFill>
            <a:srgbClr val="FCE8B2"/>
          </a:solidFill>
          <a:ln w="15875">
            <a:solidFill>
              <a:srgbClr val="B06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0" i="0">
                <a:solidFill>
                  <a:srgbClr val="3D2C00"/>
                </a:solidFill>
              </a:rPr>
              <a:t>Gate-1 · sign-off</a:t>
            </a:r>
          </a:p>
          <a:p>
            <a:pPr algn="ctr"/>
            <a:r>
              <a:rPr sz="900" b="0" i="0">
                <a:solidFill>
                  <a:srgbClr val="3D2C00"/>
                </a:solidFill>
              </a:rPr>
              <a:t>blocks until approval in state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57799" y="3429000"/>
            <a:ext cx="2103120" cy="502920"/>
          </a:xfrm>
          <a:prstGeom prst="roundRect">
            <a:avLst/>
          </a:prstGeom>
          <a:solidFill>
            <a:srgbClr val="FCE8B2"/>
          </a:solidFill>
          <a:ln w="15875">
            <a:solidFill>
              <a:srgbClr val="B06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0" i="0">
                <a:solidFill>
                  <a:srgbClr val="3D2C00"/>
                </a:solidFill>
              </a:rPr>
              <a:t>Gate-2 · review</a:t>
            </a:r>
          </a:p>
          <a:p>
            <a:pPr algn="ctr"/>
            <a:r>
              <a:rPr sz="900" b="0" i="0">
                <a:solidFill>
                  <a:srgbClr val="3D2C00"/>
                </a:solidFill>
              </a:rPr>
              <a:t>approve/conditional/reject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160520"/>
            <a:ext cx="1572768" cy="502920"/>
          </a:xfrm>
          <a:prstGeom prst="roundRect">
            <a:avLst/>
          </a:prstGeom>
          <a:solidFill>
            <a:srgbClr val="A7D7D2"/>
          </a:solidFill>
          <a:ln w="15875">
            <a:solidFill>
              <a:srgbClr val="2A6F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0" i="0">
                <a:solidFill>
                  <a:srgbClr val="0C302D"/>
                </a:solidFill>
              </a:rPr>
              <a:t>decide_load_pattern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121408" y="4160520"/>
            <a:ext cx="1572768" cy="502920"/>
          </a:xfrm>
          <a:prstGeom prst="roundRect">
            <a:avLst/>
          </a:prstGeom>
          <a:solidFill>
            <a:srgbClr val="A7D7D2"/>
          </a:solidFill>
          <a:ln w="15875">
            <a:solidFill>
              <a:srgbClr val="2A6F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0" i="0">
                <a:solidFill>
                  <a:srgbClr val="0C302D"/>
                </a:solidFill>
              </a:rPr>
              <a:t>estimate_gcp_cost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39896" y="4160520"/>
            <a:ext cx="1572768" cy="502920"/>
          </a:xfrm>
          <a:prstGeom prst="roundRect">
            <a:avLst/>
          </a:prstGeom>
          <a:solidFill>
            <a:srgbClr val="A7D7D2"/>
          </a:solidFill>
          <a:ln w="15875">
            <a:solidFill>
              <a:srgbClr val="2A6F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0" i="0">
                <a:solidFill>
                  <a:srgbClr val="0C302D"/>
                </a:solidFill>
              </a:rPr>
              <a:t>get_architecture_standard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58383" y="4160520"/>
            <a:ext cx="1572768" cy="502920"/>
          </a:xfrm>
          <a:prstGeom prst="roundRect">
            <a:avLst/>
          </a:prstGeom>
          <a:solidFill>
            <a:srgbClr val="A7D7D2"/>
          </a:solidFill>
          <a:ln w="15875">
            <a:solidFill>
              <a:srgbClr val="2A6F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0" i="0">
                <a:solidFill>
                  <a:srgbClr val="0C302D"/>
                </a:solidFill>
              </a:rPr>
              <a:t>Dev-Knowledge MCP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76871" y="4160520"/>
            <a:ext cx="1572768" cy="502920"/>
          </a:xfrm>
          <a:prstGeom prst="roundRect">
            <a:avLst/>
          </a:prstGeom>
          <a:solidFill>
            <a:srgbClr val="A7D7D2"/>
          </a:solidFill>
          <a:ln w="15875">
            <a:solidFill>
              <a:srgbClr val="2A6F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0" i="0">
                <a:solidFill>
                  <a:srgbClr val="0C302D"/>
                </a:solidFill>
              </a:rPr>
              <a:t>generate_terraform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95359" y="4160520"/>
            <a:ext cx="1572768" cy="502920"/>
          </a:xfrm>
          <a:prstGeom prst="roundRect">
            <a:avLst/>
          </a:prstGeom>
          <a:solidFill>
            <a:srgbClr val="A7D7D2"/>
          </a:solidFill>
          <a:ln w="15875">
            <a:solidFill>
              <a:srgbClr val="2A6F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0" i="0">
                <a:solidFill>
                  <a:srgbClr val="0C302D"/>
                </a:solidFill>
              </a:rPr>
              <a:t>check_traceability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213847" y="4160520"/>
            <a:ext cx="1572768" cy="502920"/>
          </a:xfrm>
          <a:prstGeom prst="roundRect">
            <a:avLst/>
          </a:prstGeom>
          <a:solidFill>
            <a:srgbClr val="A7D7D2"/>
          </a:solidFill>
          <a:ln w="15875">
            <a:solidFill>
              <a:srgbClr val="2A6F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0" i="0">
                <a:solidFill>
                  <a:srgbClr val="0C302D"/>
                </a:solidFill>
              </a:rPr>
              <a:t>researcher · google_search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4892040"/>
            <a:ext cx="5394960" cy="457200"/>
          </a:xfrm>
          <a:prstGeom prst="roundRect">
            <a:avLst/>
          </a:prstGeom>
          <a:solidFill>
            <a:srgbClr val="F4C7C3"/>
          </a:solidFill>
          <a:ln w="15875">
            <a:solidFill>
              <a:srgbClr val="A50E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1" i="0">
                <a:solidFill>
                  <a:srgbClr val="3D0A0A"/>
                </a:solidFill>
              </a:rPr>
              <a:t>Structural guardrails (before_tool_callback, RAISES): approval gate · grounding gate · tool-call ceiling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35040" y="4892040"/>
            <a:ext cx="5669280" cy="457200"/>
          </a:xfrm>
          <a:prstGeom prst="roundRect">
            <a:avLst/>
          </a:prstGeom>
          <a:solidFill>
            <a:srgbClr val="D7E3FC"/>
          </a:solidFill>
          <a:ln w="15875">
            <a:solidFill>
              <a:srgbClr val="1A5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 i="0">
                <a:solidFill>
                  <a:srgbClr val="0B2A66"/>
                </a:solidFill>
              </a:rPr>
              <a:t>Observability: Cloud Trace (OTel) + BigQuery Agent Analytics — one nested trace per request_id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5440680"/>
            <a:ext cx="112471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5F6368"/>
                </a:solidFill>
              </a:rPr>
              <a:t>Why centralized (not swarm): the PDLC is a paper trail — one coordinator, one place state and trace live, every choice auditable. Unhappy paths: gate reject loops back with the reason; missing approval/grounding → the persist tool refuses (fail-closed).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4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GEMINI ENTERPRISE GLOBAL HACKATHON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41148"/>
          </a:xfrm>
          <a:prstGeom prst="rect">
            <a:avLst/>
          </a:prstGeom>
          <a:solidFill>
            <a:srgbClr val="2A6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510528"/>
            <a:ext cx="548640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5F6368"/>
                </a:solidFill>
              </a:rPr>
              <a:t>EPAM Proprietary &amp;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10528"/>
            <a:ext cx="64008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900" b="0" i="0">
                <a:solidFill>
                  <a:srgbClr val="5F6368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124712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400" b="1" i="0">
                <a:solidFill>
                  <a:srgbClr val="141E3C"/>
                </a:solidFill>
              </a:rPr>
              <a:t>Architecture — LLD: The Doc-Grounding Gate (the differentiator)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70432"/>
            <a:ext cx="256032" cy="182880"/>
          </a:xfrm>
          <a:prstGeom prst="roundRect">
            <a:avLst/>
          </a:prstGeom>
          <a:solidFill>
            <a:srgbClr val="E8EAED"/>
          </a:solidFill>
          <a:ln w="12700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143000"/>
            <a:ext cx="2377440" cy="2560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5F6368"/>
                </a:solidFill>
              </a:rPr>
              <a:t>agent step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24328" y="1170432"/>
            <a:ext cx="256032" cy="182880"/>
          </a:xfrm>
          <a:prstGeom prst="roundRect">
            <a:avLst/>
          </a:prstGeom>
          <a:solidFill>
            <a:srgbClr val="FCE8B2"/>
          </a:solidFill>
          <a:ln w="12700">
            <a:solidFill>
              <a:srgbClr val="B06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16936" y="1143000"/>
            <a:ext cx="2377440" cy="2560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5F6368"/>
                </a:solidFill>
              </a:rPr>
              <a:t>gate / decision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37176" y="1170432"/>
            <a:ext cx="256032" cy="182880"/>
          </a:xfrm>
          <a:prstGeom prst="roundRect">
            <a:avLst/>
          </a:prstGeom>
          <a:solidFill>
            <a:srgbClr val="A7D7D2"/>
          </a:solidFill>
          <a:ln w="12700">
            <a:solidFill>
              <a:srgbClr val="2A6F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9784" y="1143000"/>
            <a:ext cx="2377440" cy="2560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5F6368"/>
                </a:solidFill>
              </a:rPr>
              <a:t>artifact / state write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42048" y="1170432"/>
            <a:ext cx="256032" cy="182880"/>
          </a:xfrm>
          <a:prstGeom prst="roundRect">
            <a:avLst/>
          </a:prstGeom>
          <a:solidFill>
            <a:srgbClr val="F4C7C3"/>
          </a:solidFill>
          <a:ln w="12700">
            <a:solidFill>
              <a:srgbClr val="A50E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34656" y="1143000"/>
            <a:ext cx="2377440" cy="2560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5F6368"/>
                </a:solidFill>
              </a:rPr>
              <a:t>refusal path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202124"/>
                </a:solidFill>
              </a:rPr>
              <a:t>This is a Python before_tool_callback that raises — a structural refusal, not a prompt. The persist step is architecturally unreachable without prior real research.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331720"/>
            <a:ext cx="2103120" cy="777240"/>
          </a:xfrm>
          <a:prstGeom prst="roundRect">
            <a:avLst/>
          </a:prstGeom>
          <a:solidFill>
            <a:srgbClr val="E8EAED"/>
          </a:solidFill>
          <a:ln w="15875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0" i="0">
                <a:solidFill>
                  <a:srgbClr val="202124"/>
                </a:solidFill>
              </a:rPr>
              <a:t>specialist plans</a:t>
            </a:r>
          </a:p>
          <a:p>
            <a:pPr algn="ctr"/>
            <a:r>
              <a:rPr sz="1000" b="0" i="0">
                <a:solidFill>
                  <a:srgbClr val="202124"/>
                </a:solidFill>
              </a:rPr>
              <a:t>a factual claim /</a:t>
            </a:r>
          </a:p>
          <a:p>
            <a:pPr algn="ctr"/>
            <a:r>
              <a:rPr sz="1000" b="0" i="0">
                <a:solidFill>
                  <a:srgbClr val="202124"/>
                </a:solidFill>
              </a:rPr>
              <a:t>design decision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80360" y="2331720"/>
            <a:ext cx="2194560" cy="777240"/>
          </a:xfrm>
          <a:prstGeom prst="roundRect">
            <a:avLst/>
          </a:prstGeom>
          <a:solidFill>
            <a:srgbClr val="E8EAED"/>
          </a:solidFill>
          <a:ln w="15875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0" i="0">
                <a:solidFill>
                  <a:srgbClr val="202124"/>
                </a:solidFill>
              </a:rPr>
              <a:t>researcher_agent</a:t>
            </a:r>
          </a:p>
          <a:p>
            <a:pPr algn="ctr"/>
            <a:r>
              <a:rPr sz="1000" b="0" i="0">
                <a:solidFill>
                  <a:srgbClr val="202124"/>
                </a:solidFill>
              </a:rPr>
              <a:t>(google_search) OR</a:t>
            </a:r>
          </a:p>
          <a:p>
            <a:pPr algn="ctr"/>
            <a:r>
              <a:rPr sz="1000" b="0" i="0">
                <a:solidFill>
                  <a:srgbClr val="202124"/>
                </a:solidFill>
              </a:rPr>
              <a:t>Dev-Knowledge MCP fetch</a:t>
            </a:r>
          </a:p>
        </p:txBody>
      </p:sp>
      <p:sp>
        <p:nvSpPr>
          <p:cNvPr id="18" name="Hexagon 17"/>
          <p:cNvSpPr/>
          <p:nvPr/>
        </p:nvSpPr>
        <p:spPr>
          <a:xfrm>
            <a:off x="5349240" y="2331720"/>
            <a:ext cx="2286000" cy="777240"/>
          </a:xfrm>
          <a:prstGeom prst="hexagon">
            <a:avLst/>
          </a:prstGeom>
          <a:solidFill>
            <a:srgbClr val="FCE8B2"/>
          </a:solidFill>
          <a:ln w="15875">
            <a:solidFill>
              <a:srgbClr val="B06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1" i="0">
                <a:solidFill>
                  <a:srgbClr val="3D2C00"/>
                </a:solidFill>
              </a:rPr>
              <a:t>grounding gate</a:t>
            </a:r>
          </a:p>
          <a:p>
            <a:pPr algn="ctr"/>
            <a:r>
              <a:rPr sz="1000" b="1" i="0">
                <a:solidFill>
                  <a:srgbClr val="3D2C00"/>
                </a:solidFill>
              </a:rPr>
              <a:t>enforce_research_grounded()</a:t>
            </a:r>
          </a:p>
          <a:p>
            <a:pPr algn="ctr"/>
            <a:r>
              <a:rPr sz="1000" b="1" i="0">
                <a:solidFill>
                  <a:srgbClr val="3D2C00"/>
                </a:solidFill>
              </a:rPr>
              <a:t>researcher consulted?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79" y="2331720"/>
            <a:ext cx="1920240" cy="777240"/>
          </a:xfrm>
          <a:prstGeom prst="roundRect">
            <a:avLst/>
          </a:prstGeom>
          <a:solidFill>
            <a:srgbClr val="E8EAED"/>
          </a:solidFill>
          <a:ln w="15875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0" i="0">
                <a:solidFill>
                  <a:srgbClr val="202124"/>
                </a:solidFill>
              </a:rPr>
              <a:t>save_* tool</a:t>
            </a:r>
          </a:p>
          <a:p>
            <a:pPr algn="ctr"/>
            <a:r>
              <a:rPr sz="1000" b="0" i="0">
                <a:solidFill>
                  <a:srgbClr val="202124"/>
                </a:solidFill>
              </a:rPr>
              <a:t>(req / arch / terraform)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0" y="2331720"/>
            <a:ext cx="1691640" cy="777240"/>
          </a:xfrm>
          <a:prstGeom prst="roundRect">
            <a:avLst/>
          </a:prstGeom>
          <a:solidFill>
            <a:srgbClr val="A7D7D2"/>
          </a:solidFill>
          <a:ln w="15875">
            <a:solidFill>
              <a:srgbClr val="2A6F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0" i="0">
                <a:solidFill>
                  <a:srgbClr val="0C302D"/>
                </a:solidFill>
              </a:rPr>
              <a:t>published artifact</a:t>
            </a:r>
          </a:p>
          <a:p>
            <a:pPr algn="ctr"/>
            <a:r>
              <a:rPr sz="800" b="0" i="1">
                <a:solidFill>
                  <a:srgbClr val="5F6368"/>
                </a:solidFill>
              </a:rPr>
              <a:t>written to repo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606040" y="2715768"/>
            <a:ext cx="274320" cy="0"/>
          </a:xfrm>
          <a:prstGeom prst="line">
            <a:avLst/>
          </a:prstGeom>
          <a:ln w="19050">
            <a:solidFill>
              <a:srgbClr val="2A6F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74920" y="2715768"/>
            <a:ext cx="274320" cy="0"/>
          </a:xfrm>
          <a:prstGeom prst="line">
            <a:avLst/>
          </a:prstGeom>
          <a:ln w="19050">
            <a:solidFill>
              <a:srgbClr val="2A6F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635240" y="2715768"/>
            <a:ext cx="320039" cy="0"/>
          </a:xfrm>
          <a:prstGeom prst="line">
            <a:avLst/>
          </a:prstGeom>
          <a:ln w="19050">
            <a:solidFill>
              <a:srgbClr val="1E8E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875520" y="2715768"/>
            <a:ext cx="182880" cy="0"/>
          </a:xfrm>
          <a:prstGeom prst="line">
            <a:avLst/>
          </a:prstGeom>
          <a:ln w="19050">
            <a:solidFill>
              <a:srgbClr val="2A6F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349240" y="3611880"/>
            <a:ext cx="2286000" cy="640080"/>
          </a:xfrm>
          <a:prstGeom prst="roundRect">
            <a:avLst/>
          </a:prstGeom>
          <a:solidFill>
            <a:srgbClr val="F4C7C3"/>
          </a:solidFill>
          <a:ln w="15875">
            <a:solidFill>
              <a:srgbClr val="A50E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 i="0">
                <a:solidFill>
                  <a:srgbClr val="3D0A0A"/>
                </a:solidFill>
              </a:rPr>
              <a:t>GroundingRequiredError</a:t>
            </a:r>
          </a:p>
          <a:p>
            <a:pPr algn="ctr"/>
            <a:r>
              <a:rPr sz="950" b="0" i="0">
                <a:solidFill>
                  <a:srgbClr val="3D0A0A"/>
                </a:solidFill>
              </a:rPr>
              <a:t>(+ ApprovalRequiredError if</a:t>
            </a:r>
          </a:p>
          <a:p>
            <a:pPr algn="ctr"/>
            <a:r>
              <a:rPr sz="950" b="0" i="0">
                <a:solidFill>
                  <a:srgbClr val="3D0A0A"/>
                </a:solidFill>
              </a:rPr>
              <a:t>no recorded approval)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92240" y="3108960"/>
            <a:ext cx="0" cy="502920"/>
          </a:xfrm>
          <a:prstGeom prst="line">
            <a:avLst/>
          </a:prstGeom>
          <a:ln w="19050">
            <a:solidFill>
              <a:srgbClr val="A50E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772400" y="3611880"/>
            <a:ext cx="39319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A50E0E"/>
                </a:solidFill>
              </a:rPr>
              <a:t>absent → REFUSED,</a:t>
            </a:r>
          </a:p>
          <a:p>
            <a:pPr algn="l"/>
            <a:r>
              <a:rPr sz="1100" b="1" i="0">
                <a:solidFill>
                  <a:srgbClr val="A50E0E"/>
                </a:solidFill>
              </a:rPr>
              <a:t>nothing persists (fail-closed)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572000"/>
            <a:ext cx="11201400" cy="960120"/>
          </a:xfrm>
          <a:prstGeom prst="roundRect">
            <a:avLst/>
          </a:prstGeom>
          <a:solidFill>
            <a:srgbClr val="D7E3FC"/>
          </a:solidFill>
          <a:ln w="15875">
            <a:solidFill>
              <a:srgbClr val="1A5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0" i="0">
                <a:solidFill>
                  <a:srgbClr val="0B2A66"/>
                </a:solidFill>
              </a:rPr>
              <a:t>ADK session.state — single source of truth threaded through every node:</a:t>
            </a:r>
          </a:p>
          <a:p>
            <a:pPr algn="ctr"/>
            <a:r>
              <a:rPr sz="1100" b="0" i="0">
                <a:solidFill>
                  <a:srgbClr val="0B2A66"/>
                </a:solidFill>
              </a:rPr>
              <a:t>grounding_recorded {researcher: true}   ·   approved_designs {slug: true}   ·   requirement_doc / adr_log / jira_tree   ·   _turn_tool_call_count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669280"/>
            <a:ext cx="111556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5F6368"/>
                </a:solidFill>
              </a:rPr>
              <a:t>“Only reachable path”: the edge into save_* IS the gate. after_agent_callback on the researcher writes the evidence the gate checks — no evidence, no persist.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4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GEMINI ENTERPRISE GLOBAL HACKATHON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41148"/>
          </a:xfrm>
          <a:prstGeom prst="rect">
            <a:avLst/>
          </a:prstGeom>
          <a:solidFill>
            <a:srgbClr val="2A6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510528"/>
            <a:ext cx="548640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5F6368"/>
                </a:solidFill>
              </a:rPr>
              <a:t>EPAM Proprietary &amp;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10528"/>
            <a:ext cx="64008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900" b="0" i="0">
                <a:solidFill>
                  <a:srgbClr val="5F6368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124712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400" b="1" i="0">
                <a:solidFill>
                  <a:srgbClr val="141E3C"/>
                </a:solidFill>
              </a:rPr>
              <a:t>Original Vision vs. Hackathon Build — same architecture, two runtimes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11556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1" i="0">
                <a:solidFill>
                  <a:srgbClr val="202124"/>
                </a:solidFill>
              </a:rPr>
              <a:t>We prototyped the full vision on LangGraph/LangChain/MCP/LangSmith; for the timebox we re-platformed the same graph onto Google ADK / GCP. Honest status in the right column.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783080"/>
          <a:ext cx="11274552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651760"/>
                <a:gridCol w="3840480"/>
                <a:gridCol w="1764792"/>
              </a:tblGrid>
              <a:tr h="5257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Original design (LangChain)</a:t>
                      </a:r>
                    </a:p>
                  </a:txBody>
                  <a:tcPr anchor="ctr" marL="63500" marR="63500" marT="25400" marB="25400">
                    <a:solidFill>
                      <a:srgbClr val="141E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 anchor="ctr" marL="63500" marR="63500" marT="25400" marB="25400">
                    <a:solidFill>
                      <a:srgbClr val="141E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Hackathon build (Google ADK / GCP)</a:t>
                      </a:r>
                    </a:p>
                  </a:txBody>
                  <a:tcPr anchor="ctr" marL="63500" marR="63500" marT="25400" marB="25400">
                    <a:solidFill>
                      <a:srgbClr val="141E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anchor="ctr" marL="63500" marR="63500" marT="25400" marB="25400">
                    <a:solidFill>
                      <a:srgbClr val="141E3C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</a:rPr>
                        <a:t>LangGraph supervisor + subgraphs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</a:rPr>
                        <a:t>Orchestration / state machine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</a:rPr>
                        <a:t>Google ADK Coordinator-Dispatcher (LlmAgent + sub_agents)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C302D"/>
                          </a:solidFill>
                        </a:rPr>
                        <a:t>REAL</a:t>
                      </a:r>
                    </a:p>
                  </a:txBody>
                  <a:tcPr anchor="ctr" marL="63500" marR="63500" marT="25400" marB="25400">
                    <a:solidFill>
                      <a:srgbClr val="A7D7D2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</a:rPr>
                        <a:t>LangChain tool layer</a:t>
                      </a:r>
                    </a:p>
                  </a:txBody>
                  <a:tcPr anchor="ctr" marL="63500" marR="63500" marT="25400" marB="254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</a:rPr>
                        <a:t>Tool-calling glue</a:t>
                      </a:r>
                    </a:p>
                  </a:txBody>
                  <a:tcPr anchor="ctr" marL="63500" marR="63500" marT="25400" marB="254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</a:rPr>
                        <a:t>ADK native tool-calling / FunctionTool</a:t>
                      </a:r>
                    </a:p>
                  </a:txBody>
                  <a:tcPr anchor="ctr" marL="63500" marR="63500" marT="25400" marB="254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C302D"/>
                          </a:solidFill>
                        </a:rPr>
                        <a:t>REAL</a:t>
                      </a:r>
                    </a:p>
                  </a:txBody>
                  <a:tcPr anchor="ctr" marL="63500" marR="63500" marT="25400" marB="25400">
                    <a:solidFill>
                      <a:srgbClr val="A7D7D2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</a:rPr>
                        <a:t>Context7 doc-gate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</a:rPr>
                        <a:t>Fresh grounding before any code/decision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</a:rPr>
                        <a:t>google_search researcher + Google Developer Knowledge MCP + repo standard tool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C302D"/>
                          </a:solidFill>
                        </a:rPr>
                        <a:t>REAL</a:t>
                      </a:r>
                    </a:p>
                  </a:txBody>
                  <a:tcPr anchor="ctr" marL="63500" marR="63500" marT="25400" marB="25400">
                    <a:solidFill>
                      <a:srgbClr val="A7D7D2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</a:rPr>
                        <a:t>MCP servers (Atlassian, GitHub)</a:t>
                      </a:r>
                    </a:p>
                  </a:txBody>
                  <a:tcPr anchor="ctr" marL="63500" marR="63500" marT="25400" marB="254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</a:rPr>
                        <a:t>Publish docs / tickets / PRs</a:t>
                      </a:r>
                    </a:p>
                  </a:txBody>
                  <a:tcPr anchor="ctr" marL="63500" marR="63500" marT="25400" marB="254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</a:rPr>
                        <a:t>Artifacts emitted to repo; live SaaS MCP = sign-off gated</a:t>
                      </a:r>
                    </a:p>
                  </a:txBody>
                  <a:tcPr anchor="ctr" marL="63500" marR="63500" marT="25400" marB="254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3D2C00"/>
                          </a:solidFill>
                        </a:rPr>
                        <a:t>NEXT PHASE</a:t>
                      </a:r>
                    </a:p>
                  </a:txBody>
                  <a:tcPr anchor="ctr" marL="63500" marR="63500" marT="25400" marB="25400">
                    <a:solidFill>
                      <a:srgbClr val="FCE8B2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</a:rPr>
                        <a:t>LangSmith trace + grounding eval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</a:rPr>
                        <a:t>Observability + CI hallucination gate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</a:rPr>
                        <a:t>Cloud Trace + BQ Analytics wired; CI-blocking grounding eval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3D2C00"/>
                          </a:solidFill>
                        </a:rPr>
                        <a:t>TRACE REAL / EVAL NEXT</a:t>
                      </a:r>
                    </a:p>
                  </a:txBody>
                  <a:tcPr anchor="ctr" marL="63500" marR="63500" marT="25400" marB="25400">
                    <a:solidFill>
                      <a:srgbClr val="FCE8B2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</a:rPr>
                        <a:t>interrupt() + Postgres checkpoint</a:t>
                      </a:r>
                    </a:p>
                  </a:txBody>
                  <a:tcPr anchor="ctr" marL="63500" marR="63500" marT="25400" marB="254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</a:rPr>
                        <a:t>Durable pause/resume for sign-off</a:t>
                      </a:r>
                    </a:p>
                  </a:txBody>
                  <a:tcPr anchor="ctr" marL="63500" marR="63500" marT="25400" marB="254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</a:rPr>
                        <a:t>before_tool_callback refusal in chat turn (durable gate = next)</a:t>
                      </a:r>
                    </a:p>
                  </a:txBody>
                  <a:tcPr anchor="ctr" marL="63500" marR="63500" marT="25400" marB="254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3D2C00"/>
                          </a:solidFill>
                        </a:rPr>
                        <a:t>GATE REAL / DURABLE NEXT</a:t>
                      </a:r>
                    </a:p>
                  </a:txBody>
                  <a:tcPr anchor="ctr" marL="63500" marR="63500" marT="25400" marB="25400">
                    <a:solidFill>
                      <a:srgbClr val="FCE8B2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</a:rPr>
                        <a:t>Typed PDLCState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</a:rPr>
                        <a:t>Single source of truth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02124"/>
                          </a:solidFill>
                        </a:rPr>
                        <a:t>ADK session.state (shared dict)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C302D"/>
                          </a:solidFill>
                        </a:rPr>
                        <a:t>REAL</a:t>
                      </a:r>
                    </a:p>
                  </a:txBody>
                  <a:tcPr anchor="ctr" marL="63500" marR="63500" marT="25400" marB="25400">
                    <a:solidFill>
                      <a:srgbClr val="A7D7D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080760"/>
            <a:ext cx="112471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1" i="0">
                <a:solidFill>
                  <a:srgbClr val="2A6F6A"/>
                </a:solidFill>
              </a:rPr>
              <a:t>Proof grounding is load-bearing, not decorative: the architecture agent cited the standard on a matching request and did NOT load it on a non-matching one — conditional, not always-on.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4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GEMINI ENTERPRISE GLOBAL HACKATHON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41148"/>
          </a:xfrm>
          <a:prstGeom prst="rect">
            <a:avLst/>
          </a:prstGeom>
          <a:solidFill>
            <a:srgbClr val="2A6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510528"/>
            <a:ext cx="548640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5F6368"/>
                </a:solidFill>
              </a:rPr>
              <a:t>EPAM Proprietary &amp;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10528"/>
            <a:ext cx="64008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900" b="0" i="0">
                <a:solidFill>
                  <a:srgbClr val="5F6368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124712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400" b="1" i="0">
                <a:solidFill>
                  <a:srgbClr val="141E3C"/>
                </a:solidFill>
              </a:rPr>
              <a:t>How We Planned It — PDLC Phase Flow (Phases 0–5, gates)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70432"/>
            <a:ext cx="256032" cy="182880"/>
          </a:xfrm>
          <a:prstGeom prst="roundRect">
            <a:avLst/>
          </a:prstGeom>
          <a:solidFill>
            <a:srgbClr val="E8EAED"/>
          </a:solidFill>
          <a:ln w="12700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143000"/>
            <a:ext cx="2377440" cy="2560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5F6368"/>
                </a:solidFill>
              </a:rPr>
              <a:t>agent-executed phase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98648" y="1170432"/>
            <a:ext cx="256032" cy="182880"/>
          </a:xfrm>
          <a:prstGeom prst="roundRect">
            <a:avLst/>
          </a:prstGeom>
          <a:solidFill>
            <a:srgbClr val="FCE8B2"/>
          </a:solidFill>
          <a:ln w="12700">
            <a:solidFill>
              <a:srgbClr val="B06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91256" y="1143000"/>
            <a:ext cx="2377440" cy="2560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5F6368"/>
                </a:solidFill>
              </a:rPr>
              <a:t>human gate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74336" y="1170432"/>
            <a:ext cx="256032" cy="182880"/>
          </a:xfrm>
          <a:prstGeom prst="roundRect">
            <a:avLst/>
          </a:prstGeom>
          <a:solidFill>
            <a:srgbClr val="A7D7D2"/>
          </a:solidFill>
          <a:ln w="12700">
            <a:solidFill>
              <a:srgbClr val="2A6F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66944" y="1143000"/>
            <a:ext cx="2377440" cy="2560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5F6368"/>
                </a:solidFill>
              </a:rPr>
              <a:t>published artifact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011680"/>
            <a:ext cx="1371600" cy="777240"/>
          </a:xfrm>
          <a:prstGeom prst="roundRect">
            <a:avLst/>
          </a:prstGeom>
          <a:solidFill>
            <a:srgbClr val="E8EAED"/>
          </a:solidFill>
          <a:ln w="15875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 i="0">
                <a:solidFill>
                  <a:srgbClr val="202124"/>
                </a:solidFill>
              </a:rPr>
              <a:t>Phase 0</a:t>
            </a:r>
          </a:p>
          <a:p>
            <a:pPr algn="ctr"/>
            <a:r>
              <a:rPr sz="900" b="1" i="0">
                <a:solidFill>
                  <a:srgbClr val="202124"/>
                </a:solidFill>
              </a:rPr>
              <a:t>Intake &amp; Triage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926080"/>
            <a:ext cx="1371600" cy="502920"/>
          </a:xfrm>
          <a:prstGeom prst="roundRect">
            <a:avLst/>
          </a:prstGeom>
          <a:solidFill>
            <a:srgbClr val="A7D7D2"/>
          </a:solidFill>
          <a:ln w="15875">
            <a:solidFill>
              <a:srgbClr val="2A6F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50" b="0" i="0">
                <a:solidFill>
                  <a:srgbClr val="0C302D"/>
                </a:solidFill>
              </a:rPr>
              <a:t>triage note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874519" y="2400300"/>
            <a:ext cx="91441" cy="0"/>
          </a:xfrm>
          <a:prstGeom prst="line">
            <a:avLst/>
          </a:prstGeom>
          <a:ln w="19050">
            <a:solidFill>
              <a:srgbClr val="2A6F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965960" y="2011680"/>
            <a:ext cx="1371600" cy="777240"/>
          </a:xfrm>
          <a:prstGeom prst="roundRect">
            <a:avLst/>
          </a:prstGeom>
          <a:solidFill>
            <a:srgbClr val="E8EAED"/>
          </a:solidFill>
          <a:ln w="15875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 i="0">
                <a:solidFill>
                  <a:srgbClr val="202124"/>
                </a:solidFill>
              </a:rPr>
              <a:t>Phase 1</a:t>
            </a:r>
          </a:p>
          <a:p>
            <a:pPr algn="ctr"/>
            <a:r>
              <a:rPr sz="900" b="1" i="0">
                <a:solidFill>
                  <a:srgbClr val="202124"/>
                </a:solidFill>
              </a:rPr>
              <a:t>Requirement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65960" y="2926080"/>
            <a:ext cx="1371600" cy="502920"/>
          </a:xfrm>
          <a:prstGeom prst="roundRect">
            <a:avLst/>
          </a:prstGeom>
          <a:solidFill>
            <a:srgbClr val="A7D7D2"/>
          </a:solidFill>
          <a:ln w="15875">
            <a:solidFill>
              <a:srgbClr val="2A6F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50" b="0" i="0">
                <a:solidFill>
                  <a:srgbClr val="0C302D"/>
                </a:solidFill>
              </a:rPr>
              <a:t>Requirement v1.x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337560" y="2400300"/>
            <a:ext cx="91440" cy="0"/>
          </a:xfrm>
          <a:prstGeom prst="line">
            <a:avLst/>
          </a:prstGeom>
          <a:ln w="19050">
            <a:solidFill>
              <a:srgbClr val="2A6F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429000" y="2011680"/>
            <a:ext cx="1371600" cy="777240"/>
          </a:xfrm>
          <a:prstGeom prst="roundRect">
            <a:avLst/>
          </a:prstGeom>
          <a:solidFill>
            <a:srgbClr val="FCE8B2"/>
          </a:solidFill>
          <a:ln w="15875">
            <a:solidFill>
              <a:srgbClr val="B06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 i="0">
                <a:solidFill>
                  <a:srgbClr val="3D2C00"/>
                </a:solidFill>
              </a:rPr>
              <a:t>Gate-1</a:t>
            </a:r>
          </a:p>
          <a:p>
            <a:pPr algn="ctr"/>
            <a:r>
              <a:rPr sz="900" b="1" i="0">
                <a:solidFill>
                  <a:srgbClr val="3D2C00"/>
                </a:solidFill>
              </a:rPr>
              <a:t>Sign-off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00600" y="2400300"/>
            <a:ext cx="91440" cy="0"/>
          </a:xfrm>
          <a:prstGeom prst="line">
            <a:avLst/>
          </a:prstGeom>
          <a:ln w="19050">
            <a:solidFill>
              <a:srgbClr val="2A6F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892040" y="2011680"/>
            <a:ext cx="1371600" cy="777240"/>
          </a:xfrm>
          <a:prstGeom prst="roundRect">
            <a:avLst/>
          </a:prstGeom>
          <a:solidFill>
            <a:srgbClr val="E8EAED"/>
          </a:solidFill>
          <a:ln w="15875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 i="0">
                <a:solidFill>
                  <a:srgbClr val="202124"/>
                </a:solidFill>
              </a:rPr>
              <a:t>Phase 2</a:t>
            </a:r>
          </a:p>
          <a:p>
            <a:pPr algn="ctr"/>
            <a:r>
              <a:rPr sz="900" b="1" i="0">
                <a:solidFill>
                  <a:srgbClr val="202124"/>
                </a:solidFill>
              </a:rPr>
              <a:t>Architecture &amp; HLD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92040" y="2926080"/>
            <a:ext cx="1371600" cy="502920"/>
          </a:xfrm>
          <a:prstGeom prst="roundRect">
            <a:avLst/>
          </a:prstGeom>
          <a:solidFill>
            <a:srgbClr val="A7D7D2"/>
          </a:solidFill>
          <a:ln w="15875">
            <a:solidFill>
              <a:srgbClr val="2A6F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50" b="0" i="0">
                <a:solidFill>
                  <a:srgbClr val="0C302D"/>
                </a:solidFill>
              </a:rPr>
              <a:t>HLD + ADR log + cost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263640" y="2400300"/>
            <a:ext cx="91440" cy="0"/>
          </a:xfrm>
          <a:prstGeom prst="line">
            <a:avLst/>
          </a:prstGeom>
          <a:ln w="19050">
            <a:solidFill>
              <a:srgbClr val="2A6F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355080" y="2011680"/>
            <a:ext cx="1371600" cy="777240"/>
          </a:xfrm>
          <a:prstGeom prst="roundRect">
            <a:avLst/>
          </a:prstGeom>
          <a:solidFill>
            <a:srgbClr val="FCE8B2"/>
          </a:solidFill>
          <a:ln w="15875">
            <a:solidFill>
              <a:srgbClr val="B06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 i="0">
                <a:solidFill>
                  <a:srgbClr val="3D2C00"/>
                </a:solidFill>
              </a:rPr>
              <a:t>Gate-2</a:t>
            </a:r>
          </a:p>
          <a:p>
            <a:pPr algn="ctr"/>
            <a:r>
              <a:rPr sz="900" b="1" i="0">
                <a:solidFill>
                  <a:srgbClr val="3D2C00"/>
                </a:solidFill>
              </a:rPr>
              <a:t>Arch review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2926080"/>
            <a:ext cx="1371600" cy="502920"/>
          </a:xfrm>
          <a:prstGeom prst="roundRect">
            <a:avLst/>
          </a:prstGeom>
          <a:solidFill>
            <a:srgbClr val="A7D7D2"/>
          </a:solidFill>
          <a:ln w="15875">
            <a:solidFill>
              <a:srgbClr val="2A6F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50" b="0" i="0">
                <a:solidFill>
                  <a:srgbClr val="0C302D"/>
                </a:solidFill>
              </a:rPr>
              <a:t>review decision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726680" y="2400300"/>
            <a:ext cx="91440" cy="0"/>
          </a:xfrm>
          <a:prstGeom prst="line">
            <a:avLst/>
          </a:prstGeom>
          <a:ln w="19050">
            <a:solidFill>
              <a:srgbClr val="2A6F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818120" y="2011680"/>
            <a:ext cx="1371600" cy="777240"/>
          </a:xfrm>
          <a:prstGeom prst="roundRect">
            <a:avLst/>
          </a:prstGeom>
          <a:solidFill>
            <a:srgbClr val="E8EAED"/>
          </a:solidFill>
          <a:ln w="15875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 i="0">
                <a:solidFill>
                  <a:srgbClr val="202124"/>
                </a:solidFill>
              </a:rPr>
              <a:t>Phase 5</a:t>
            </a:r>
          </a:p>
          <a:p>
            <a:pPr algn="ctr"/>
            <a:r>
              <a:rPr sz="900" b="1" i="0">
                <a:solidFill>
                  <a:srgbClr val="202124"/>
                </a:solidFill>
              </a:rPr>
              <a:t>Infra-as-Code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18120" y="2926080"/>
            <a:ext cx="1371600" cy="502920"/>
          </a:xfrm>
          <a:prstGeom prst="roundRect">
            <a:avLst/>
          </a:prstGeom>
          <a:solidFill>
            <a:srgbClr val="A7D7D2"/>
          </a:solidFill>
          <a:ln w="15875">
            <a:solidFill>
              <a:srgbClr val="2A6F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50" b="0" i="0">
                <a:solidFill>
                  <a:srgbClr val="0C302D"/>
                </a:solidFill>
              </a:rPr>
              <a:t>Terraform in repo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189720" y="2400300"/>
            <a:ext cx="91440" cy="0"/>
          </a:xfrm>
          <a:prstGeom prst="line">
            <a:avLst/>
          </a:prstGeom>
          <a:ln w="19050">
            <a:solidFill>
              <a:srgbClr val="2A6F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281160" y="2011680"/>
            <a:ext cx="1371600" cy="777240"/>
          </a:xfrm>
          <a:prstGeom prst="roundRect">
            <a:avLst/>
          </a:prstGeom>
          <a:solidFill>
            <a:srgbClr val="E8EAED"/>
          </a:solidFill>
          <a:ln w="15875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 i="0">
                <a:solidFill>
                  <a:srgbClr val="202124"/>
                </a:solidFill>
              </a:rPr>
              <a:t>Phase 4</a:t>
            </a:r>
          </a:p>
          <a:p>
            <a:pPr algn="ctr"/>
            <a:r>
              <a:rPr sz="900" b="1" i="0">
                <a:solidFill>
                  <a:srgbClr val="202124"/>
                </a:solidFill>
              </a:rPr>
              <a:t>JIRA breakdown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81160" y="2926080"/>
            <a:ext cx="1371600" cy="502920"/>
          </a:xfrm>
          <a:prstGeom prst="roundRect">
            <a:avLst/>
          </a:prstGeom>
          <a:solidFill>
            <a:srgbClr val="A7D7D2"/>
          </a:solidFill>
          <a:ln w="15875">
            <a:solidFill>
              <a:srgbClr val="2A6F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50" b="0" i="0">
                <a:solidFill>
                  <a:srgbClr val="0C302D"/>
                </a:solidFill>
              </a:rPr>
              <a:t>Epic→…→Task + AC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652760" y="2400300"/>
            <a:ext cx="91440" cy="0"/>
          </a:xfrm>
          <a:prstGeom prst="line">
            <a:avLst/>
          </a:prstGeom>
          <a:ln w="19050">
            <a:solidFill>
              <a:srgbClr val="2A6F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744200" y="2011680"/>
            <a:ext cx="1371600" cy="777240"/>
          </a:xfrm>
          <a:prstGeom prst="roundRect">
            <a:avLst/>
          </a:prstGeom>
          <a:solidFill>
            <a:srgbClr val="E8EAED"/>
          </a:solidFill>
          <a:ln w="15875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 i="0">
                <a:solidFill>
                  <a:srgbClr val="202124"/>
                </a:solidFill>
              </a:rPr>
              <a:t>Phase 5b</a:t>
            </a:r>
          </a:p>
          <a:p>
            <a:pPr algn="ctr"/>
            <a:r>
              <a:rPr sz="900" b="1" i="0">
                <a:solidFill>
                  <a:srgbClr val="202124"/>
                </a:solidFill>
              </a:rPr>
              <a:t>Build→Review→Deploy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744200" y="2926080"/>
            <a:ext cx="1371600" cy="502920"/>
          </a:xfrm>
          <a:prstGeom prst="roundRect">
            <a:avLst/>
          </a:prstGeom>
          <a:solidFill>
            <a:srgbClr val="A7D7D2"/>
          </a:solidFill>
          <a:ln w="15875">
            <a:solidFill>
              <a:srgbClr val="2A6F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50" b="0" i="0">
                <a:solidFill>
                  <a:srgbClr val="0C302D"/>
                </a:solidFill>
              </a:rPr>
              <a:t>PR + tests + runbook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3794760"/>
            <a:ext cx="1124712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1" i="0">
                <a:solidFill>
                  <a:srgbClr val="202124"/>
                </a:solidFill>
              </a:rPr>
              <a:t>Same backbone whether a human or an agent runs it — deliberate: it is what makes each phase independently automatable and auditable.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4343400"/>
            <a:ext cx="10972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02124"/>
                </a:solidFill>
              </a:rPr>
              <a:t>—  Unhappy paths are first-class: Gate-1 revise loop (v1.0→v1.1); Gate-2 conditional/reject loops back to Phase 2 with the reason recorded.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02124"/>
                </a:solidFill>
              </a:rPr>
              <a:t>—  Infra-first optimization: the agent provisions infra (Phase 5) right after Gate-2, before the JIRA breakdown — so there is no “set up the infra” ticket; the environment already exists.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02124"/>
                </a:solidFill>
              </a:rPr>
              <a:t>—  Every task/AC traces to a Phase-1 requirement or an ADR (check_task_traceability enforces it).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4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GEMINI ENTERPRISE GLOBAL HACKATHON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41148"/>
          </a:xfrm>
          <a:prstGeom prst="rect">
            <a:avLst/>
          </a:prstGeom>
          <a:solidFill>
            <a:srgbClr val="2A6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510528"/>
            <a:ext cx="548640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5F6368"/>
                </a:solidFill>
              </a:rPr>
              <a:t>EPAM Proprietary &amp;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10528"/>
            <a:ext cx="64008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900" b="0" i="0">
                <a:solidFill>
                  <a:srgbClr val="5F6368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124712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400" b="1" i="0">
                <a:solidFill>
                  <a:srgbClr val="141E3C"/>
                </a:solidFill>
              </a:rPr>
              <a:t>Grounding &amp; MCP Ecosystem — wired vs. next-phase (honest)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70432"/>
            <a:ext cx="256032" cy="182880"/>
          </a:xfrm>
          <a:prstGeom prst="roundRect">
            <a:avLst/>
          </a:prstGeom>
          <a:solidFill>
            <a:srgbClr val="A7D7D2"/>
          </a:solidFill>
          <a:ln w="12700">
            <a:solidFill>
              <a:srgbClr val="2A6F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143000"/>
            <a:ext cx="2377440" cy="2560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5F6368"/>
                </a:solidFill>
              </a:rPr>
              <a:t>WIRED · real in demo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98648" y="1170432"/>
            <a:ext cx="256032" cy="182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AA0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91256" y="1143000"/>
            <a:ext cx="2377440" cy="2560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5F6368"/>
                </a:solidFill>
              </a:rPr>
              <a:t>NEXT PHASE · needs sign-off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1600200"/>
            <a:ext cx="2743200" cy="548640"/>
          </a:xfrm>
          <a:prstGeom prst="roundRect">
            <a:avLst/>
          </a:prstGeom>
          <a:solidFill>
            <a:srgbClr val="E8EAED"/>
          </a:solidFill>
          <a:ln w="15875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1" i="0">
                <a:solidFill>
                  <a:srgbClr val="202124"/>
                </a:solidFill>
              </a:rPr>
              <a:t>PDLC agents</a:t>
            </a:r>
          </a:p>
          <a:p>
            <a:pPr algn="ctr"/>
            <a:r>
              <a:rPr sz="1000" b="1" i="0">
                <a:solidFill>
                  <a:srgbClr val="202124"/>
                </a:solidFill>
              </a:rPr>
              <a:t>(architecture / iac / jira / requirements)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51760"/>
            <a:ext cx="3566160" cy="914400"/>
          </a:xfrm>
          <a:prstGeom prst="roundRect">
            <a:avLst/>
          </a:prstGeom>
          <a:solidFill>
            <a:srgbClr val="A7D7D2"/>
          </a:solidFill>
          <a:ln w="15875">
            <a:solidFill>
              <a:srgbClr val="2A6F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0" i="0">
                <a:solidFill>
                  <a:srgbClr val="0C302D"/>
                </a:solidFill>
              </a:rPr>
              <a:t>Google Developer Knowledge MCP</a:t>
            </a:r>
          </a:p>
          <a:p>
            <a:pPr algn="ctr"/>
            <a:r>
              <a:rPr sz="1000" b="0" i="0">
                <a:solidFill>
                  <a:srgbClr val="0C302D"/>
                </a:solidFill>
              </a:rPr>
              <a:t>Google's own current docs · Phase 2/4/5</a:t>
            </a:r>
          </a:p>
          <a:p>
            <a:pPr algn="ctr"/>
            <a:r>
              <a:rPr sz="1000" b="0" i="0">
                <a:solidFill>
                  <a:srgbClr val="0C302D"/>
                </a:solidFill>
              </a:rPr>
              <a:t>STATIC — always available to codegen/ADR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651760"/>
            <a:ext cx="3566160" cy="914400"/>
          </a:xfrm>
          <a:prstGeom prst="roundRect">
            <a:avLst/>
          </a:prstGeom>
          <a:solidFill>
            <a:srgbClr val="A7D7D2"/>
          </a:solidFill>
          <a:ln w="15875">
            <a:solidFill>
              <a:srgbClr val="2A6F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0" i="0">
                <a:solidFill>
                  <a:srgbClr val="0C302D"/>
                </a:solidFill>
              </a:rPr>
              <a:t>google_search researcher sub-agent</a:t>
            </a:r>
          </a:p>
          <a:p>
            <a:pPr algn="ctr"/>
            <a:r>
              <a:rPr sz="1000" b="0" i="0">
                <a:solidFill>
                  <a:srgbClr val="0C302D"/>
                </a:solidFill>
              </a:rPr>
              <a:t>third-party vendor/API facts · Phase 1/2</a:t>
            </a:r>
          </a:p>
          <a:p>
            <a:pPr algn="ctr"/>
            <a:r>
              <a:rPr sz="1000" b="0" i="0">
                <a:solidFill>
                  <a:srgbClr val="0C302D"/>
                </a:solidFill>
              </a:rPr>
              <a:t>real web grounding, not memory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2651760"/>
            <a:ext cx="3611880" cy="914400"/>
          </a:xfrm>
          <a:prstGeom prst="roundRect">
            <a:avLst/>
          </a:prstGeom>
          <a:solidFill>
            <a:srgbClr val="A7D7D2"/>
          </a:solidFill>
          <a:ln w="15875">
            <a:solidFill>
              <a:srgbClr val="2A6F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0" i="0">
                <a:solidFill>
                  <a:srgbClr val="0C302D"/>
                </a:solidFill>
              </a:rPr>
              <a:t>get_architecture_standard tool</a:t>
            </a:r>
          </a:p>
          <a:p>
            <a:pPr algn="ctr"/>
            <a:r>
              <a:rPr sz="1000" b="0" i="0">
                <a:solidFill>
                  <a:srgbClr val="0C302D"/>
                </a:solidFill>
              </a:rPr>
              <a:t>repo standard doc (Confluence stand-in)</a:t>
            </a:r>
          </a:p>
          <a:p>
            <a:pPr algn="ctr"/>
            <a:r>
              <a:rPr sz="1000" b="0" i="0">
                <a:solidFill>
                  <a:srgbClr val="0C302D"/>
                </a:solidFill>
              </a:rPr>
              <a:t>Phase 2 — deterministic read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2286000" y="2148840"/>
            <a:ext cx="3794760" cy="502920"/>
          </a:xfrm>
          <a:prstGeom prst="line">
            <a:avLst/>
          </a:prstGeom>
          <a:ln w="19050">
            <a:solidFill>
              <a:srgbClr val="2A6F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80760" y="2148840"/>
            <a:ext cx="0" cy="502920"/>
          </a:xfrm>
          <a:prstGeom prst="line">
            <a:avLst/>
          </a:prstGeom>
          <a:ln w="19050">
            <a:solidFill>
              <a:srgbClr val="2A6F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80760" y="2148840"/>
            <a:ext cx="3794760" cy="502920"/>
          </a:xfrm>
          <a:prstGeom prst="line">
            <a:avLst/>
          </a:prstGeom>
          <a:ln w="19050">
            <a:solidFill>
              <a:srgbClr val="2A6F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2920" y="3977639"/>
            <a:ext cx="356616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AA0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0" i="0">
                <a:solidFill>
                  <a:srgbClr val="3C4043"/>
                </a:solidFill>
              </a:rPr>
              <a:t>Atlassian MCP</a:t>
            </a:r>
          </a:p>
          <a:p>
            <a:pPr algn="ctr"/>
            <a:r>
              <a:rPr sz="1000" b="0" i="0">
                <a:solidFill>
                  <a:srgbClr val="3C4043"/>
                </a:solidFill>
              </a:rPr>
              <a:t>Jira tickets (P4) · Confluence publish (P1/P2)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3977639"/>
            <a:ext cx="356616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AA0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0" i="0">
                <a:solidFill>
                  <a:srgbClr val="3C4043"/>
                </a:solidFill>
              </a:rPr>
              <a:t>GitHub MCP</a:t>
            </a:r>
          </a:p>
          <a:p>
            <a:pPr algn="ctr"/>
            <a:r>
              <a:rPr sz="1000" b="0" i="0">
                <a:solidFill>
                  <a:srgbClr val="3C4043"/>
                </a:solidFill>
              </a:rPr>
              <a:t>PR creation (P5)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3977639"/>
            <a:ext cx="361188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AA0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0" i="0">
                <a:solidFill>
                  <a:srgbClr val="3C4043"/>
                </a:solidFill>
              </a:rPr>
              <a:t>Pattern-conditional MCPs</a:t>
            </a:r>
          </a:p>
          <a:p>
            <a:pPr algn="ctr"/>
            <a:r>
              <a:rPr sz="1000" b="0" i="0">
                <a:solidFill>
                  <a:srgbClr val="3C4043"/>
                </a:solidFill>
              </a:rPr>
              <a:t>dbt / Airflow / BigQuery — loaded only if</a:t>
            </a:r>
          </a:p>
          <a:p>
            <a:pPr algn="ctr"/>
            <a:r>
              <a:rPr sz="1000" b="0" i="0">
                <a:solidFill>
                  <a:srgbClr val="3C4043"/>
                </a:solidFill>
              </a:rPr>
              <a:t>Phase-2 pattern needs them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2286000" y="2148840"/>
            <a:ext cx="3794760" cy="1828799"/>
          </a:xfrm>
          <a:prstGeom prst="line">
            <a:avLst/>
          </a:prstGeom>
          <a:ln w="12700">
            <a:solidFill>
              <a:srgbClr val="9AA0A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080760" y="2148840"/>
            <a:ext cx="0" cy="1828799"/>
          </a:xfrm>
          <a:prstGeom prst="line">
            <a:avLst/>
          </a:prstGeom>
          <a:ln w="12700">
            <a:solidFill>
              <a:srgbClr val="9AA0A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080760" y="2148840"/>
            <a:ext cx="3794760" cy="1828799"/>
          </a:xfrm>
          <a:prstGeom prst="line">
            <a:avLst/>
          </a:prstGeom>
          <a:ln w="12700">
            <a:solidFill>
              <a:srgbClr val="9AA0A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02920" y="5074920"/>
            <a:ext cx="11201400" cy="777240"/>
          </a:xfrm>
          <a:prstGeom prst="roundRect">
            <a:avLst/>
          </a:prstGeom>
          <a:solidFill>
            <a:srgbClr val="FEF7E0"/>
          </a:solidFill>
          <a:ln w="15875">
            <a:solidFill>
              <a:srgbClr val="B06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0" i="0">
                <a:solidFill>
                  <a:srgbClr val="3D2C00"/>
                </a:solidFill>
              </a:rPr>
              <a:t>Today, the same paper trail with zero external dependency: Jira tree, requirement doc, HLD and Terraform are emitted as repo (GitLab) artifacts, not pushed to external SaaS. EPAM guardrail: external non-GCP SaaS MCP servers need Platform-Architect sign-off — so the default is GCP-native.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4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GEMINI ENTERPRISE GLOBAL HACKATHON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41148"/>
          </a:xfrm>
          <a:prstGeom prst="rect">
            <a:avLst/>
          </a:prstGeom>
          <a:solidFill>
            <a:srgbClr val="2A6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510528"/>
            <a:ext cx="548640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5F6368"/>
                </a:solidFill>
              </a:rPr>
              <a:t>EPAM Proprietary &amp;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10528"/>
            <a:ext cx="64008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900" b="0" i="0">
                <a:solidFill>
                  <a:srgbClr val="5F6368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124712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400" b="1" i="0">
                <a:solidFill>
                  <a:srgbClr val="141E3C"/>
                </a:solidFill>
              </a:rPr>
              <a:t>Next Steps — closing the gaps in the vision→build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202124"/>
                </a:solidFill>
              </a:rPr>
              <a:t>—  1 · Stand up the grounding evaluator as a real CI-blocking gate — a run where a codegen step had no preceding doc-fetch fails the PR, exactly like a failing unit test (trace is wired; the gate is next).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202124"/>
                </a:solidFill>
              </a:rPr>
              <a:t>—  2 · Dynamic MCP binding — Phase 5 loads only the MCP servers the chosen architecture pattern actually needs (dbt / Airflow / BigQuery), not a fixed set.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202124"/>
                </a:solidFill>
              </a:rPr>
              <a:t>—  3 · Durable human gates — replace the in-session approval with an interrupt()-style durable pause (Firestore/Cloud SQL checkpoint) so a reviewer can approve async, days later, without losing state.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202124"/>
                </a:solidFill>
              </a:rPr>
              <a:t>—  4 · Enterprise-readiness checklist — Secret Manager for API keys, IAM scoping per MCP server, audit logging of every human-gate decision, and a defined owner/on-call model for the orchestrator itself.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202124"/>
                </a:solidFill>
              </a:rPr>
              <a:t>—  5 · Beyond Pattern D — prove the same graph selects and executes the heavier Patterns A–C (Composer/Airflow, Dataflow, Dataproc) for larger requests, not just the lightweight long tail.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202124"/>
                </a:solidFill>
              </a:rPr>
              <a:t>—  6 · Live SaaS actions — opt-in Atlassian/GitHub MCP (Jira tickets, Confluence, PRs) once Platform-Architect sign-off lands — a one-time configured registration, thanks to the clean seams.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4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GEMINI ENTERPRISE GLOBAL HACKATHON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41148"/>
          </a:xfrm>
          <a:prstGeom prst="rect">
            <a:avLst/>
          </a:prstGeom>
          <a:solidFill>
            <a:srgbClr val="2A6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510528"/>
            <a:ext cx="548640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5F6368"/>
                </a:solidFill>
              </a:rPr>
              <a:t>EPAM Proprietary &amp;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10528"/>
            <a:ext cx="64008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900" b="0" i="0">
                <a:solidFill>
                  <a:srgbClr val="5F6368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124712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400" b="1" i="0">
                <a:solidFill>
                  <a:srgbClr val="141E3C"/>
                </a:solidFill>
              </a:rPr>
              <a:t>Lessons Learned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>
                <a:solidFill>
                  <a:srgbClr val="202124"/>
                </a:solidFill>
              </a:rPr>
              <a:t>—  The doc-gate thesis happened to us, not just in the demo: a locally-written TDD instruction contradicted google-agents-cli-eval's actual guidance — we fixed our instruction to match the vendor skill rather than keep our own. “Grounding beats a hand-written instruction, even ours.”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202124"/>
                </a:solidFill>
              </a:rPr>
              <a:t>—  The hardest part was not the LLM calls — it was making the human gates load-bearing rather than decorative under a timebox. Moving refusal into a before_tool_callback that raises was the turning point.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202124"/>
                </a:solidFill>
              </a:rPr>
              <a:t>—  Re-platforming LangGraph→ADK clarified what was framework-specific vs. genuinely architectural: the doc-gate pattern and the typed state schema travelled cleanly; anything tied to LangSmith's evaluator API did not.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202124"/>
                </a:solidFill>
              </a:rPr>
              <a:t>—  Narrow, scope-limited specialists beat one monolithic agent — less surface area, measurably less hallucination, and each phase independently testable.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202124"/>
                </a:solidFill>
              </a:rPr>
              <a:t>—  [Add one more that is actually true for your team — do not fabricate specifics.]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4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GEMINI ENTERPRISE GLOBAL HACKATHON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41148"/>
          </a:xfrm>
          <a:prstGeom prst="rect">
            <a:avLst/>
          </a:prstGeom>
          <a:solidFill>
            <a:srgbClr val="2A6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510528"/>
            <a:ext cx="548640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5F6368"/>
                </a:solidFill>
              </a:rPr>
              <a:t>EPAM Proprietary &amp;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10528"/>
            <a:ext cx="64008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900" b="0" i="0">
                <a:solidFill>
                  <a:srgbClr val="5F6368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124712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400" b="1" i="0">
                <a:solidFill>
                  <a:srgbClr val="141E3C"/>
                </a:solidFill>
              </a:rPr>
              <a:t>Visuals / Demo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394960" cy="2148840"/>
          </a:xfrm>
          <a:prstGeom prst="rect">
            <a:avLst/>
          </a:prstGeom>
          <a:solidFill>
            <a:srgbClr val="F2F4F7"/>
          </a:solidFill>
          <a:ln w="12700">
            <a:solidFill>
              <a:srgbClr val="9AA0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 i="0">
                <a:solidFill>
                  <a:srgbClr val="5F6368"/>
                </a:solidFill>
              </a:rPr>
              <a:t>[SCREENSHOT: requirement doc generated — v1.0 with Open Questions]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371600"/>
            <a:ext cx="5394960" cy="2148840"/>
          </a:xfrm>
          <a:prstGeom prst="rect">
            <a:avLst/>
          </a:prstGeom>
          <a:solidFill>
            <a:srgbClr val="F2F4F7"/>
          </a:solidFill>
          <a:ln w="12700">
            <a:solidFill>
              <a:srgbClr val="9AA0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 i="0">
                <a:solidFill>
                  <a:srgbClr val="5F6368"/>
                </a:solidFill>
              </a:rPr>
              <a:t>[SCREENSHOT: human approval gate — record_human_approval in the chat turn]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703320"/>
            <a:ext cx="5394960" cy="2148840"/>
          </a:xfrm>
          <a:prstGeom prst="rect">
            <a:avLst/>
          </a:prstGeom>
          <a:solidFill>
            <a:srgbClr val="F2F4F7"/>
          </a:solidFill>
          <a:ln w="12700">
            <a:solidFill>
              <a:srgbClr val="9AA0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 i="0">
                <a:solidFill>
                  <a:srgbClr val="5F6368"/>
                </a:solidFill>
              </a:rPr>
              <a:t>[SCREENSHOT: grounding gate firing — GroundingRequiredError on save without research]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3703320"/>
            <a:ext cx="5394960" cy="2148840"/>
          </a:xfrm>
          <a:prstGeom prst="rect">
            <a:avLst/>
          </a:prstGeom>
          <a:solidFill>
            <a:srgbClr val="F2F4F7"/>
          </a:solidFill>
          <a:ln w="12700">
            <a:solidFill>
              <a:srgbClr val="9AA0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 i="0">
                <a:solidFill>
                  <a:srgbClr val="5F6368"/>
                </a:solidFill>
              </a:rPr>
              <a:t>[SCREENSHOT: generated Terraform + JIRA tree written to the repo]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89320"/>
            <a:ext cx="111556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1" i="0">
                <a:solidFill>
                  <a:srgbClr val="2A6F6A"/>
                </a:solidFill>
              </a:rPr>
              <a:t>Live demo prompts (all wired today): “what's missing before we can build?”  ·  “compare lightweight vs enterprise-Airflow cost”  ·  “scaffold the infra for the approved design.”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